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YoungXCode – Comprehensive BI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</a:defRPr>
            </a:pPr>
            <a:r>
              <a:t>45-Day Business Performance Analysis | Q1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BB"/>
                </a:solidFill>
              </a:defRPr>
            </a:pPr>
            <a:r>
              <a:t>Revenue Analytics | Project Performance | Team Productivity | Client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4572000" cy="36576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</a:defRPr>
            </a:pPr>
            <a:r>
              <a:t>Confidential | Prepared for Management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</a:defRPr>
            </a:pPr>
            <a:r>
              <a:t>Report Date: March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High-level business performance overview for the 45-day analysis period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Rs21.09Cr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Total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2560320" cy="10972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80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Total Projects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1097280"/>
          </a:xfrm>
          <a:prstGeom prst="roundRect">
            <a:avLst/>
          </a:prstGeom>
          <a:solidFill>
            <a:srgbClr val="6A9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54.3%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Collection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743200" cy="1097280"/>
          </a:xfrm>
          <a:prstGeom prst="round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3.1%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Avg Profit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Total Revenue of Rs21.09Cr generated from 50 active clients across 12 industries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32 out of 80 projects (40%) successfully completed during the period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Team completed 227 out of 300 tasks (75.7% completion rate) across 12 team members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Top 5 cities (Noida, Ahmedabad, Delhi, Hyderabad, Gurugram) contributed 51% of total revenue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LegalTech and HR Tech are the top-performing industry verticals generating Rs3.55Cr and Rs3.02Cr respectively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3E1D"/>
                </a:solidFill>
              </a:defRPr>
            </a:pPr>
            <a:r>
              <a:t>Major Challenges &amp;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Only 25% of completed projects delivered on-time; 75% exceeded deadlines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Collection rate at 54.3% with Rs2,509,787 in overdue invoices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10 projects (12.5%) exceeded approved budget allocations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7 unpaid invoices totaling Rs1,281,205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Task backlog: 73 of 300 tasks (24.3%) remain 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Critical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Revenue concentration in top 5 clients (35% of total) poses dependency risk. Invoice collection gaps need immediate attention. On-time delivery requires process overhaul.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Revenue &amp; Invoice Analysis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Financial performance, invoice status, and collection efficiency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Rs13.62M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Total Invoiced Amount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743200" cy="914400"/>
          </a:xfrm>
          <a:prstGeom prst="roundRect">
            <a:avLst/>
          </a:prstGeom>
          <a:solidFill>
            <a:srgbClr val="6A9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Rs7.40M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Amount Collected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71600"/>
            <a:ext cx="2743200" cy="914400"/>
          </a:xfrm>
          <a:prstGeom prst="round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Rs6.22M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Outstanding Amount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371600"/>
            <a:ext cx="2286000" cy="914400"/>
          </a:xfrm>
          <a:prstGeom prst="round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54.3%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Collection Rate</a:t>
            </a:r>
          </a:p>
        </p:txBody>
      </p:sp>
      <p:pic>
        <p:nvPicPr>
          <p:cNvPr id="7" name="Picture 6" descr="invoice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0"/>
            <a:ext cx="50292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Invoice Status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9260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Paid: 33 invoices (Rs7,397,618)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Overdue: 11 invoices (Rs2,509,787)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Partially Paid: 9 invoices (Rs2,431,665)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Unpaid: 7 invoices (Rs1,281,205)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Average invoice amount: Rs227,005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Average days to pay (post-due): 13.6 days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GST contribution: Rs1,906,260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Key Financial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Total outstanding of Rs6.22M represents significant working capital blockage. Overdue invoices account for 18.4% of total invoiced amount. Top 5 clients contribute 35% of total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Revenue &amp; Invoice Analysis (contd.)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Top clients, city-wise revenue, and overdue analysis</a:t>
            </a:r>
          </a:p>
        </p:txBody>
      </p:sp>
      <p:pic>
        <p:nvPicPr>
          <p:cNvPr id="3" name="Picture 2" descr="top_client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2560320"/>
          </a:xfrm>
          <a:prstGeom prst="rect">
            <a:avLst/>
          </a:prstGeom>
        </p:spPr>
      </p:pic>
      <p:pic>
        <p:nvPicPr>
          <p:cNvPr id="4" name="Picture 3" descr="revenue_by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560320"/>
          </a:xfrm>
          <a:prstGeom prst="rect">
            <a:avLst/>
          </a:prstGeom>
        </p:spPr>
      </p:pic>
      <p:pic>
        <p:nvPicPr>
          <p:cNvPr id="5" name="Picture 4" descr="overdue_invo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206240"/>
            <a:ext cx="566928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Top Revenue-Generating Clients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45720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VelocityTech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AI/ML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Rs7.78M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ElevateAI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EdTech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Rs7.73M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SmartSynth Ltd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Gurugram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LegalTech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Rs7.56M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CloudNova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HR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Rs7.54M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FuturePath Tech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EdTech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Rs7.30M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Project Performance Analysis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Project status, delivery metrics, and budget utilization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914400"/>
          </a:xfrm>
          <a:prstGeom prst="roundRect">
            <a:avLst/>
          </a:prstGeom>
          <a:solidFill>
            <a:srgbClr val="6A9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32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Completed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256032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28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914400"/>
          </a:xfrm>
          <a:prstGeom prst="round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Delayed Projects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743200" cy="914400"/>
          </a:xfrm>
          <a:prstGeom prst="round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10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Over Budget</a:t>
            </a:r>
          </a:p>
        </p:txBody>
      </p:sp>
      <p:pic>
        <p:nvPicPr>
          <p:cNvPr id="7" name="Picture 6" descr="project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0"/>
            <a:ext cx="5029200" cy="2926080"/>
          </a:xfrm>
          <a:prstGeom prst="rect">
            <a:avLst/>
          </a:prstGeom>
        </p:spPr>
      </p:pic>
      <p:pic>
        <p:nvPicPr>
          <p:cNvPr id="8" name="Picture 7" descr="on_time_deli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560320"/>
            <a:ext cx="502920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Project Performance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Average project duration: 220 days | On-time delivery rate: 25% | Average budget utilization: 69.2% | Average profit margin: 30.8% | Projects with budget overrun: 10 (12.5%)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Project Performance Analysis (contd.)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Budget utilization, profitability, and project comparison</a:t>
            </a:r>
          </a:p>
        </p:txBody>
      </p:sp>
      <p:pic>
        <p:nvPicPr>
          <p:cNvPr id="3" name="Picture 2" descr="budget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2560320"/>
          </a:xfrm>
          <a:prstGeom prst="rect">
            <a:avLst/>
          </a:prstGeom>
        </p:spPr>
      </p:pic>
      <p:pic>
        <p:nvPicPr>
          <p:cNvPr id="4" name="Picture 3" descr="profit_marg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A994E"/>
                </a:solidFill>
              </a:defRPr>
            </a:pPr>
            <a:r>
              <a:t>Top Performing Projects (Highest Profit Margin)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57200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Cloud Migration – KloudKraft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Rs0.53M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 Analytics Dashboard – QuantumLeap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Rs3.42M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13.7%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Cloud Migration – TechBridge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Rs0.49M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Cloud Migration – SmartSynth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Rs2.25M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12.8%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SaaS Platform Build – OmniSoft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Rs0.55M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12.6%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3E1D"/>
                </a:solidFill>
              </a:defRPr>
            </a:pPr>
            <a:r>
              <a:t>Underperforming Projects (Lowest Margin)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457200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SaaS Platform Build – WebWave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Rs4.81M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-12.5%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DevOps Setup – FlowTech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Rs1.20M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-10.6%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API Development – PeakPerform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Rs4.60M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-10.5%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Inventory Management – WarpSpeed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Rs4.49M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-9.3%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IoT Integration – YoungXCode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Rs1.22M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-7.6%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Insight: Projects with tighter budgets show higher profit margins. Scope creep and poor estimation are key drivers of budget overruns.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Team Productivity Analysis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Workload distribution, completion rates, and resource utilization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300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Total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2560320" cy="914400"/>
          </a:xfrm>
          <a:prstGeom prst="roundRect">
            <a:avLst/>
          </a:prstGeom>
          <a:solidFill>
            <a:srgbClr val="6A9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227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75.7%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Completion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743200" cy="914400"/>
          </a:xfrm>
          <a:prstGeom prst="round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85.8%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Avg Utilization</a:t>
            </a:r>
          </a:p>
        </p:txBody>
      </p:sp>
      <p:pic>
        <p:nvPicPr>
          <p:cNvPr id="7" name="Picture 6" descr="team_work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0"/>
            <a:ext cx="5669280" cy="2560320"/>
          </a:xfrm>
          <a:prstGeom prst="rect">
            <a:avLst/>
          </a:prstGeom>
        </p:spPr>
      </p:pic>
      <p:pic>
        <p:nvPicPr>
          <p:cNvPr id="8" name="Picture 7" descr="completion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60320"/>
            <a:ext cx="566928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Busiest members: Priya Mehta (30 tasks), Karan Malhotra (29 tasks), Siddharth Das (27 tasks)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Highest completion rates: Rahul Verma (84.0%), Sneha Kapoor (84.2%), Rohan Gupta (76.0%)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Lowest completion rate: Isha Patel (60.0%) – needs attention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Total estimated hours: 12884 | Total actual hours: 11048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Team Productivity Analysis (contd.)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Estimated vs actual hours, priority analysis, and burnout risk assessment</a:t>
            </a:r>
          </a:p>
        </p:txBody>
      </p:sp>
      <p:pic>
        <p:nvPicPr>
          <p:cNvPr id="3" name="Picture 2" descr="est_vs_act_h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943600" cy="2560320"/>
          </a:xfrm>
          <a:prstGeom prst="rect">
            <a:avLst/>
          </a:prstGeom>
        </p:spPr>
      </p:pic>
      <p:pic>
        <p:nvPicPr>
          <p:cNvPr id="4" name="Picture 3" descr="priority_comple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486400" cy="2560320"/>
          </a:xfrm>
          <a:prstGeom prst="rect">
            <a:avLst/>
          </a:prstGeom>
        </p:spPr>
      </p:pic>
      <p:pic>
        <p:nvPicPr>
          <p:cNvPr id="5" name="Picture 4" descr="task_prio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206240"/>
            <a:ext cx="457200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3E1D"/>
                </a:solidFill>
              </a:defRPr>
            </a:pPr>
            <a:r>
              <a:t>Burnout Risk &amp; Overutilization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466344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Vikram Singh: 100.4% utilization (actual &gt; estimated) – HIGH BURNOUT RISK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Rohan Gupta: 94.0% utilization – near capacity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Pooja Reddy: 94.0% utilization – near capacity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Potential underutilization: Isha Patel at 68.5% – may need more allocation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141 out of 300 tasks exceeded estimated hours (47%) indicating estimation inaccuracies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Client Analytics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Client distribution, retention, industry breakdown, and top performers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50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Total Clients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256032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Rs4.22M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Avg Revenue/Client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914400"/>
          </a:xfrm>
          <a:prstGeom prst="roundRect">
            <a:avLst/>
          </a:prstGeom>
          <a:solidFill>
            <a:srgbClr val="6A9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6.8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Avg Projects/Client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743200" cy="914400"/>
          </a:xfrm>
          <a:prstGeom prst="round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15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Cities Covered</a:t>
            </a:r>
          </a:p>
        </p:txBody>
      </p:sp>
      <p:pic>
        <p:nvPicPr>
          <p:cNvPr id="7" name="Picture 6" descr="revenue_by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0"/>
            <a:ext cx="5669280" cy="2560320"/>
          </a:xfrm>
          <a:prstGeom prst="rect">
            <a:avLst/>
          </a:prstGeom>
        </p:spPr>
      </p:pic>
      <p:pic>
        <p:nvPicPr>
          <p:cNvPr id="8" name="Picture 7" descr="client_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60320"/>
            <a:ext cx="548640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Client Distribution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669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Industry Leaders: LegalTech (Rs35.5M), HR Tech (Rs30.2M), AI/ML (Rs24.5M)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City Leaders: Noida (Rs24.4M), Ahmedabad (Rs21.7M), Delhi (Rs17.8M)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Top client: VelocityTech – Rs7.78M (AI/ML, Mumbai)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Client retention potential: 12 distinct industries show diversification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Re-engagement opportunities: 7 projects On Hold, 5 Cancelled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Top 5 Clients by Revenue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5669280"/>
          <a:ext cx="39319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914400"/>
                <a:gridCol w="914400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VelocityTech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AI/ML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Rs7.78M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ElevateAI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EdTech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Rs7.73M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SmartSynth Ltd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Gurugram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LegalTech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Rs7.56M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CloudNova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HR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Rs7.54M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FuturePath Tech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EdTech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Rs7.30M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Bottlenecks &amp; Business Challenges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Critical operational issues identified during the analysis period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365760"/>
          </a:xfrm>
          <a:prstGeom prst="round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Delayed Project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Only 25% of completed projects delivered on-time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8 projects currently in "Delayed" status (10% of total)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Average project duration: 220 days vs planned deadlines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Impact: Client dissatisfaction, penalty risks, cash flow delays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303520" cy="365760"/>
          </a:xfrm>
          <a:prstGeom prst="round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Invoice Collection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Collection rate at only 54.3%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Rs2,509,787 in overdue invoices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Rs1,281,205 in unpaid invoices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7 unpaid invoices and 11 overdue invoices blocking working capital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5303520" cy="365760"/>
          </a:xfrm>
          <a:prstGeom prst="round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Budget Overruns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10 projects (12.5%) exceeded approved budget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Average budget utilization across all projects: 69.2%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Indicates poor initial estimation or uncontrolled scope creep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Profit margins eroded on over-budget 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303520" cy="365760"/>
          </a:xfrm>
          <a:prstGeom prst="round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Workload Imbalance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Task distribution varies from 19 to 30 tasks per team member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Isha Patel: 60% completion rate (lowest in team)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Vikram Singh: 100.4% utilization (burnout risk)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141 tasks (47%) exceeded estimated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3E1D"/>
                </a:solidFill>
              </a:defRPr>
            </a:pPr>
            <a:r>
              <a:t>Quantified Impact: These bottlenecks collectively result in approximately Rs6.22M in blocked revenue, 12.5% budget erosion, and 75% project delay rate requiring immediate management attention.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Recommendations &amp; 90-Day Action Plan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Short-term (0-30 days) and Medium-term (31-60 days) initiatives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669280" cy="365760"/>
          </a:xfrm>
          <a:prstGeom prst="roundRect">
            <a:avLst/>
          </a:prstGeom>
          <a:solidFill>
            <a:srgbClr val="6A9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1: SHORT-TERM (0-30 Days) – Immediate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Recover overdue invoices: Initiate collection drive for Rs2.5M+ in overdue payments – Target: 60% recovery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KPI to monitor: Collection rate increase from 54.3% to 70%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Resource rebalancing: Redistribute tasks from Vikram Singh (100.4% util) to Isha Patel (68.5%)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KPI to monitor: Utilization variance reduced to &lt;20% across team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Project triage: Review 8 delayed projects – either fast-track or re-scope with client approval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KPI to monitor: Delayed projects reduced from 8 to 4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Invoice follow-up automation: Implement automated payment reminders for 7 unpaid invoices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Responsible: Finance Team, Project Managers | Priority: CRITICAL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66928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2: MEDIUM-TERM (31-60 Days) – Process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Project estimation overhaul: Implement standardized estimation framework to reduce budget overruns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KPI to monitor: Budget variance reduced from 12.5% to &lt;5%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On-time delivery program: Introduce milestone-based tracking with weekly progress reviews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KPI to monitor: On-time delivery rate from 25% to 50%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Task management optimization: Clear backlog of 73 incomplete tasks with prioritization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KPI to monitor: Task completion rate from 75.7% to 90%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Client re-engagement: Reach out to 7 On-Hold and 5 Cancelled project clients for revival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 Responsible: Operations Head, Team Leads | Priority: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Expected Outcomes After 60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Collection rate improved from 54.3% to 75% | Delayed projects reduced by 50% | Task completion rate above 85%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Budget variance reduced below 8% | Team utilization balanced within 75-95% range | Revenue recovery of Rs1.5M+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90-Day Action Plan (contd.)</a:t>
            </a:r>
          </a:p>
          <a:p>
            <a:pPr algn="l">
              <a:defRPr sz="1400">
                <a:solidFill>
                  <a:srgbClr val="BBCCDD"/>
                </a:solidFill>
              </a:defRPr>
            </a:pPr>
            <a:r>
              <a:t>Long-term (61-90 days) strategic initiatives and projected business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1430000" cy="36576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3: LONG-TERM (61-90 Days) – Strategic Growth &amp;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BI Dashboard Implementation: Deploy automated real-time KPI dashboards for management visibility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KPI to monitor: Automated reporting coverage for 100% of identified metrics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Revenue Diversification Strategy: Reduce top-5 client dependency (currently 35%) to below 25%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KPI to monitor: Client concentration ratio reduced to 25%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Client Success Program: Formalize quarterly business reviews for top 15 revenue-generating clients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KPI to monitor: Client retention rate improved by 20%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Team Productivity System: Implement OKR framework with bi-weekly sprint planning and retrospectives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KPI to monitor: Team productivity index improved by 30%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Financial Process Automation: Integrate invoicing with automated reconciliation and payment tracking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 KPI to monitor: Invoice-to-cash cycle reduced from 13.6 days to &lt;7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Projected Business Impact (90-Day Target)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846320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828800"/>
                <a:gridCol w="182880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Collection Rate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54.3%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85.0%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On-Time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Task Completion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75.7%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85.0%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95.0%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Ops Team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Budget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Team Utilization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75-95%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80-90%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HR/Ops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Delayed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DD"/>
                </a:solidFill>
              </a:defRPr>
            </a:pPr>
            <a:r>
              <a:t>YoungXCode – 45-Day BI Analysis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00400"/>
            <a:ext cx="4572000" cy="36576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 Schedule management review meeting to discuss findings and approve action plan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 Assign owners for each recommendation phase with weekly progress tracking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 Implement immediate recovery actions for overdue invoices and delayed projects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•  Deploy automated BI dashboard for ongoing performance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</a:defRPr>
            </a:pPr>
            <a:r>
              <a:t>For questions or detailed data access, contact: BI &amp; Analytics Team | YoungXCode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