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D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From Data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0A0D8"/>
                </a:solidFill>
              </a:defRPr>
            </a:pPr>
            <a:r>
              <a:t>How Analytics Can Help YoungXCode Scale Faster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27432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90C8"/>
                </a:solidFill>
              </a:defRPr>
            </a:pPr>
            <a:r>
              <a:t>45-Day Business Intelligence Analysis &amp;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14800"/>
            <a:ext cx="164592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114800"/>
            <a:ext cx="164592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80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114800"/>
            <a:ext cx="164592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Team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114800"/>
            <a:ext cx="164592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Rs21.1Cr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59" y="4114800"/>
            <a:ext cx="164592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54%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Collection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080A0"/>
                </a:solidFill>
              </a:defRPr>
            </a:pPr>
            <a:r>
              <a:t>Confidential | Prepared for Management &amp; Stakeholder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080A0"/>
                </a:solidFill>
              </a:defRPr>
            </a:pPr>
            <a:r>
              <a:t>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A data-driven overview of where YoungXCode stands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01168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Total Clients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2011680" cy="914400"/>
          </a:xfrm>
          <a:prstGeom prst="roundRect">
            <a:avLst/>
          </a:prstGeom>
          <a:solidFill>
            <a:srgbClr val="3B1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80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Total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188720"/>
            <a:ext cx="2011680" cy="914400"/>
          </a:xfrm>
          <a:prstGeom prst="roundRect">
            <a:avLst/>
          </a:prstGeom>
          <a:solidFill>
            <a:srgbClr val="7B4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Team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88720"/>
            <a:ext cx="201168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Rs21.1Cr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188720"/>
            <a:ext cx="2286000" cy="9144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54%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Collection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2D8E"/>
                </a:solidFill>
              </a:defRPr>
            </a:pPr>
            <a:r>
              <a:t>Key Business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27432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50 active clients across 12 industries and 15 cities generating Rs21.1Cr in total revenue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80 projects managed with 32 completed (40%), 28 in progress (35%), and 20 inactive/delayed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Strong portfolio diversity: LegalTech (Rs3.6Cr), HR Tech (Rs3.0Cr), AI/ML (Rs2.5Cr) lead revenue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Team of 12 members completed 300 of 300 tasks across all projects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Top 5 clients contribute 18% of total revenue — healthy diversification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Top Growth Opportunities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97480"/>
            <a:ext cx="18288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Improve collection rate from 54% to 85% — unlock Rs6.2M in working capital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Fix on-time delivery (currently 25%) to boost client satisfaction and reduce penalties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Balance team workload — Vikram Singh at 100% utilization vs Isha Patel at 68%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Re-engage 7 on-hold and 5 cancelled projects worth significant pipeline value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Expand revenue concentration across cities — Noida &amp; Ahmedabad lead with Rs2.4Cr+ 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2D8E"/>
                </a:solidFill>
              </a:defRPr>
            </a:pPr>
            <a:r>
              <a:t>The business is growing steadily, but analysis reveals opportunities to improve project delivery, team productivity, client retention, and revenue realization.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YoungXCode — Current Business Snapshot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Where are we today? A complete data-driven view of the company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94560" cy="10058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Rs21.1Cr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Total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188720"/>
            <a:ext cx="2194560" cy="10058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28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Active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188720"/>
            <a:ext cx="219456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Client 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188720"/>
            <a:ext cx="2194560" cy="10058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85%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Team Utilization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1188720"/>
            <a:ext cx="1645920" cy="10058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54%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Collection</a:t>
            </a:r>
          </a:p>
        </p:txBody>
      </p:sp>
      <p:pic>
        <p:nvPicPr>
          <p:cNvPr id="9" name="Picture 8" descr="revenue_by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5943600" cy="3840480"/>
          </a:xfrm>
          <a:prstGeom prst="rect">
            <a:avLst/>
          </a:prstGeom>
        </p:spPr>
      </p:pic>
      <p:pic>
        <p:nvPicPr>
          <p:cNvPr id="10" name="Picture 9" descr="cit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&amp; Financial Health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Are we growing revenue and collecting payments efficiently?</a:t>
            </a:r>
          </a:p>
        </p:txBody>
      </p:sp>
      <p:pic>
        <p:nvPicPr>
          <p:cNvPr id="4" name="Picture 3" descr="top5_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2743200"/>
          </a:xfrm>
          <a:prstGeom prst="rect">
            <a:avLst/>
          </a:prstGeom>
        </p:spPr>
      </p:pic>
      <p:pic>
        <p:nvPicPr>
          <p:cNvPr id="5" name="Picture 4" descr="invoice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029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2D8E"/>
                </a:solidFill>
              </a:defRPr>
            </a:pPr>
            <a:r>
              <a:t>Revenue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27432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Total Invoiced: Rs13.62M | Collected: Rs7.40M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Collection Rate: 54% | Outstanding: Rs6.22M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Overdue: Rs2.51M (11 invoices)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Unpaid: Rs1.28M (7 invoices)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Average Invoice: Rs227,005 | GST Contribution: Rs1.91M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2D8E"/>
                </a:solidFill>
              </a:defRPr>
            </a:pPr>
            <a:r>
              <a:t>Key Financial Observations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343400"/>
            <a:ext cx="22860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Top 5 clients contribute 18% of revenue — moderate concentration, but VelocityTech (Rs7.8M) leads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LegalTech (Rs3.6Cr) and HR Tech (Rs3.0Cr) are the strongest industry verticals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Noida and Ahmedabad account for the highest city-wise revenue at Rs2.4Cr each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Outstanding amount of Rs6.22M represents significant working capital blockage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Revenue is diversified across 12 industries and 15 cities — good risk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2C2C"/>
                </a:solidFill>
              </a:defRPr>
            </a:pPr>
            <a:r>
              <a:t>Financial Health Verdict: Revenue is well-diversified, but collection efficiency needs urgent improvement. Unlocking Rs{outstanding/1e6:.1f}M in outstanding payments is the single highest-impact financial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Delivery Performance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Projects are being delivered, but delays and budget overruns reduce profitability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01168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32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201168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28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188720"/>
            <a:ext cx="201168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Delayed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88720"/>
            <a:ext cx="2011680" cy="9144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Cancelled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188720"/>
            <a:ext cx="2286000" cy="9144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25%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On-Time Rate</a:t>
            </a:r>
          </a:p>
        </p:txBody>
      </p:sp>
      <p:pic>
        <p:nvPicPr>
          <p:cNvPr id="9" name="Picture 8" descr="project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5029200" cy="3474720"/>
          </a:xfrm>
          <a:prstGeom prst="rect">
            <a:avLst/>
          </a:prstGeom>
        </p:spPr>
      </p:pic>
      <p:pic>
        <p:nvPicPr>
          <p:cNvPr id="10" name="Picture 9" descr="ontime_deli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377440"/>
            <a:ext cx="5029200" cy="3474720"/>
          </a:xfrm>
          <a:prstGeom prst="rect">
            <a:avLst/>
          </a:prstGeom>
        </p:spPr>
      </p:pic>
      <p:pic>
        <p:nvPicPr>
          <p:cNvPr id="11" name="Picture 10" descr="budget_ut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943600"/>
            <a:ext cx="594360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436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Business Story: Only 25% of completed projects delivered on time. 10 projects (13%) exceeded budget. Average profit margin stands at 32% — healthy, but delayed projects erode profitability through penalties and resource carryover costs. Improving on-time delivery to 70% could boost margins by 5-8%.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Productivity Insights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Who is carrying the load? Where are the gaps?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300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Total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188720"/>
            <a:ext cx="274320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25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Avg Task per Person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88720"/>
            <a:ext cx="2743200" cy="9144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85%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Avg Utilization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188720"/>
            <a:ext cx="228600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100.4%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Highest Util</a:t>
            </a:r>
          </a:p>
        </p:txBody>
      </p:sp>
      <p:pic>
        <p:nvPicPr>
          <p:cNvPr id="8" name="Picture 7" descr="team_work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59436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2D8E"/>
                </a:solidFill>
              </a:defRPr>
            </a:pPr>
            <a:r>
              <a:t>Team Member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06040"/>
            <a:ext cx="18288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743200"/>
          <a:ext cx="5212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1097280"/>
                <a:gridCol w="1097280"/>
                <a:gridCol w="91440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Priya Mehta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1431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1197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Karan Malhotra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Siddharth Das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1085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956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Ananya Joshi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Rahul Verma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1110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961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Rohan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Isha Patel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674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Pooja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Divya Nair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896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776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Arjun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Vikram Singh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861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Sneha Kapoor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2D8E"/>
                </a:solidFill>
              </a:defRPr>
            </a:pPr>
            <a:r>
              <a:t>Productivity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89320"/>
            <a:ext cx="27432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7F8C8D"/>
                </a:solidFill>
              </a:defRPr>
            </a:pPr>
            <a:r>
              <a:t>•  Overloaded: Vikram Singh at 100.4% utilization — risk of burnout and quality decline</a:t>
            </a:r>
          </a:p>
          <a:p>
            <a:pPr>
              <a:spcAft>
                <a:spcPts val="300"/>
              </a:spcAft>
              <a:defRPr sz="1000">
                <a:solidFill>
                  <a:srgbClr val="7F8C8D"/>
                </a:solidFill>
              </a:defRPr>
            </a:pPr>
            <a:r>
              <a:t>•  Underutilized: Isha Patel at 68% utilization — opportunity to redistribute 5-6 tasks from overloaded members</a:t>
            </a:r>
          </a:p>
          <a:p>
            <a:pPr>
              <a:spcAft>
                <a:spcPts val="300"/>
              </a:spcAft>
              <a:defRPr sz="1000">
                <a:solidFill>
                  <a:srgbClr val="7F8C8D"/>
                </a:solidFill>
              </a:defRPr>
            </a:pPr>
            <a:r>
              <a:t>•  High performers: Rohan Gupta and Pooja Reddy both at 94% utilization with strong output</a:t>
            </a:r>
          </a:p>
          <a:p>
            <a:pPr>
              <a:spcAft>
                <a:spcPts val="300"/>
              </a:spcAft>
              <a:defRPr sz="1000">
                <a:solidFill>
                  <a:srgbClr val="7F8C8D"/>
                </a:solidFill>
              </a:defRPr>
            </a:pPr>
            <a:r>
              <a:t>•  Estimation gap: 47% of tasks (141 tasks) exceeded estimated hours — needs estimation process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Client Analytics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A small group of clients generates a large share of revenue — retention is strategic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Total Clients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56032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Industries 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56032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15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Cities 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188720"/>
            <a:ext cx="2743200" cy="9144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Rs4.2M</a:t>
            </a:r>
          </a:p>
          <a:p>
            <a:pPr algn="ctr">
              <a:defRPr sz="900">
                <a:solidFill>
                  <a:srgbClr val="E0D0EE"/>
                </a:solidFill>
              </a:defRPr>
            </a:pPr>
            <a:r>
              <a:t>Avg Revenue/Client</a:t>
            </a:r>
          </a:p>
        </p:txBody>
      </p:sp>
      <p:pic>
        <p:nvPicPr>
          <p:cNvPr id="8" name="Picture 7" descr="client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50292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2D8E"/>
                </a:solidFill>
              </a:defRPr>
            </a:pPr>
            <a:r>
              <a:t>Top 5 Clients by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97480"/>
            <a:ext cx="18288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0" y="2834640"/>
          <a:ext cx="4389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10058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VelocityTech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AI/ML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Rs7.78M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ElevateAI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EdTech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Rs7.73M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SmartSynth Ltd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Gurugram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LegalTech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Rs7.56M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CloudNova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HR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Rs7.54M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FuturePath Tech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EdTech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Rs7.30M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2D8E"/>
                </a:solidFill>
              </a:defRPr>
            </a:pPr>
            <a:r>
              <a:t>Client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4709160"/>
            <a:ext cx="18288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8006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Retention opportunity: 12 cancelled + on-hold projects represent re-engagement potential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Industry leaders: LegalTech (Rs3.6Cr), HR Tech (Rs3.0Cr), AI/ML (Rs2.5Cr) — focus sales efforts here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City expansion: Noida (Rs2.4Cr) and Ahmedabad (Rs2.2Cr) are top revenue cities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</a:defRPr>
            </a:pPr>
            <a:r>
              <a:t>•  Average 6.8 projects per client — indicates strong relationship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2D8E"/>
                </a:solidFill>
              </a:defRPr>
            </a:pPr>
            <a:r>
              <a:t>Business Insight: Client concentration is healthy (top 5 = 18% of revenue), but 12 cancelled/on-hold projects signal re-engagement opportunities worth an estimated Rs3-5Cr in pipeline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Problems Discovered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Six critical issues identified through data analysis — each quantified with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56616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Delayed Project Deliveries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Only 25% on-time delivery rate — 75% of completed projects missed deadlines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8 projects currently in "Delayed" status (10% of all projects)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Average project duration: 220 days — scope creep and poor milestone tracking are key drivers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56616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Overdue &amp; Unpaid Invoices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11 overdue invoices worth Rs2.51M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7 unpaid invoices worth Rs1.28M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Overall collection rate at only 54% — well below industry benchmark of 85%+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56616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Workload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Vikram Singh at 100.4% utilization — burnout risk and potential quality issues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Isha Patel at 68% utilization — 32% underutilized capacity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Workload ranges from 19 to 30 tasks per person across the 12-member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023360"/>
            <a:ext cx="356616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Client Churn / Stalled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12 projects in non-active status: 7 On Hold, 5 Cancelled (15% of portfolio)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No formal client retention program in place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Re-engagement of stalled projects could unlock significant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023360"/>
            <a:ext cx="356616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Budget Overruns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10 projects (13%) exceeded approved budgets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Average profit margin at 32% — overruns erode this further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Indicates poor initial estimation and lack of real-time budget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56616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Slow Payment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Rs6.2M in total outstanding payments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No automated payment reminder system in place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Average days to pay: 13.6 days beyond due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Root Cause Analysis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Why do these problems occur? Data-driven diagnosis of underlying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566160" cy="3200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Poor Project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Projects consistently underestimate timelines and budgets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47% of tasks exceed estimated hours — systemic estimation flaw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10 budget overruns confirm the pattern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No standardized estimation framework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566160" cy="3200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Lack of Milestone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Projects lack intermediate milestone checkpoints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Without milestones, delays go unnoticed until deadline approaches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75% late delivery rate is a direct consequence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Implement milestone-based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56616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Weak Payment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Only 54% collection rate — no automated reminders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11 overdue invoices indicate no structured follow-up process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Payments are tracked manually, if at all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No escalation mechanism for long-overdue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023360"/>
            <a:ext cx="356616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Resource Allocation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Workload distribution is uneven across team members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No capacity planning tool being used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Task assignment is ad-hoc rather than data-driven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Vikram Singh at 100% utilization vs Isha Patel at 68%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023360"/>
            <a:ext cx="356616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Inconsistent Client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No formal client review cadence established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Project status updates are not standardized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Client approval delays contribute to project delays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No systematic re-engagement for stalled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56616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 Real-Time Analytics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Management lacks real-time KPI dashboards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Decisions are based on intuition, not data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Problems are detected only after they escalate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Streamlit dashboard addresses this 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Data-Driven Solutions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Recommended actions based on the analysis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56616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Revenue &amp;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Implement automated invoice reminders (7, 3, 1 day before due)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Set up a collection escalation workflow for overdue &gt; 30 days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Offer early payment discounts (2% for payment within 7 days)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Target: Increase collection rate from 54% to 85% in 90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56616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Project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Implement milestone-based project tracking with weekly reviews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Introduce deadline alerts at 50%, 75%, and 90% of project timeline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Standardize project estimation framework based on historical data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Target: Improve on-time delivery from 25% to 70% in 90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56616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69163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Redistribute tasks: move 5-6 tasks from Vikram Singh to Isha Patel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Implement capacity planning tool for balanced workload allocation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Introduce sprint-based task management with 2-week cycles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Target: Achieve 80-90% utilization across all team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023360"/>
            <a:ext cx="356616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Client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Launch re-engagement campaign for 12 stalled/cancelled projects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Establish quarterly business reviews for top 15 clients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Create a client health score based on payment history and project status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Target: Re-activate 40% of stalled projects within 90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023360"/>
            <a:ext cx="3566160" cy="3200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Budget &amp; Cost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Implement real-time budget tracking with alerts at 80% and 100% utilization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Require change request approval for scope changes exceeding 10% of budget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Use historical data for more accurate project estimation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Target: Reduce budget overruns from 13% to under 5% of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566160" cy="3200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Analytics &amp;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43484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Deploy Streamlit dashboard for management self-service analytics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Set up automated weekly KPI email reports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Create GA4 + Mixpanel dashboards for product analytics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</a:defRPr>
            </a:pPr>
            <a:r>
              <a:t>•  Target: 100% KPI visibility for management within 30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Expected Business Impact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Measurable outcomes — what success looks like in 90 days</a:t>
            </a:r>
          </a:p>
        </p:txBody>
      </p:sp>
      <p:pic>
        <p:nvPicPr>
          <p:cNvPr id="4" name="Picture 3" descr="business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2D8E"/>
                </a:solidFill>
              </a:defRPr>
            </a:pPr>
            <a:r>
              <a:t>Projected 90-Day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508760"/>
            <a:ext cx="22860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5029200" cy="777240"/>
          </a:xfrm>
          <a:prstGeom prst="roundRect">
            <a:avLst/>
          </a:prstGeom>
          <a:solidFill>
            <a:srgbClr val="F8F4FC"/>
          </a:solidFill>
          <a:ln w="63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5B2D8E"/>
                </a:solidFill>
              </a:defRPr>
            </a:pPr>
            <a:r>
              <a:t>Revenue: Collection rate 54%→85%</a:t>
            </a:r>
          </a:p>
          <a:p>
            <a:pPr>
              <a:defRPr sz="1000">
                <a:solidFill>
                  <a:srgbClr val="7F8C8D"/>
                </a:solidFill>
              </a:defRPr>
            </a:pPr>
            <a:r>
              <a:t>Impact: Unlock Rs3.7M working capital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697480"/>
            <a:ext cx="5029200" cy="777240"/>
          </a:xfrm>
          <a:prstGeom prst="roundRect">
            <a:avLst/>
          </a:prstGeom>
          <a:solidFill>
            <a:srgbClr val="F8F4FC"/>
          </a:solidFill>
          <a:ln w="63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5B2D8E"/>
                </a:solidFill>
              </a:defRPr>
            </a:pPr>
            <a:r>
              <a:t>Delivery: On-time rate 25%→70%</a:t>
            </a:r>
          </a:p>
          <a:p>
            <a:pPr>
              <a:defRPr sz="1000">
                <a:solidFill>
                  <a:srgbClr val="7F8C8D"/>
                </a:solidFill>
              </a:defRPr>
            </a:pPr>
            <a:r>
              <a:t>Impact: 45% fewer delayed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657600"/>
            <a:ext cx="5029200" cy="777240"/>
          </a:xfrm>
          <a:prstGeom prst="roundRect">
            <a:avLst/>
          </a:prstGeom>
          <a:solidFill>
            <a:srgbClr val="F8F4FC"/>
          </a:solidFill>
          <a:ln w="63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5B2D8E"/>
                </a:solidFill>
              </a:defRPr>
            </a:pPr>
            <a:r>
              <a:t>Productivity: Utilization balanced</a:t>
            </a:r>
          </a:p>
          <a:p>
            <a:pPr>
              <a:defRPr sz="1000">
                <a:solidFill>
                  <a:srgbClr val="7F8C8D"/>
                </a:solidFill>
              </a:defRPr>
            </a:pPr>
            <a:r>
              <a:t>Impact: Team efficiency +10-15%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17720"/>
            <a:ext cx="5029200" cy="777240"/>
          </a:xfrm>
          <a:prstGeom prst="roundRect">
            <a:avLst/>
          </a:prstGeom>
          <a:solidFill>
            <a:srgbClr val="F8F4FC"/>
          </a:solidFill>
          <a:ln w="63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5B2D8E"/>
                </a:solidFill>
              </a:defRPr>
            </a:pPr>
            <a:r>
              <a:t>Clients: Stalled projects 15%→8%</a:t>
            </a:r>
          </a:p>
          <a:p>
            <a:pPr>
              <a:defRPr sz="1000">
                <a:solidFill>
                  <a:srgbClr val="7F8C8D"/>
                </a:solidFill>
              </a:defRPr>
            </a:pPr>
            <a:r>
              <a:t>Impact: Retention +5-10%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577840"/>
            <a:ext cx="5029200" cy="777240"/>
          </a:xfrm>
          <a:prstGeom prst="roundRect">
            <a:avLst/>
          </a:prstGeom>
          <a:solidFill>
            <a:srgbClr val="F8F4FC"/>
          </a:solidFill>
          <a:ln w="63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5B2D8E"/>
                </a:solidFill>
              </a:defRPr>
            </a:pPr>
            <a:r>
              <a:t>Costs: Budget overruns 13%→5%</a:t>
            </a:r>
          </a:p>
          <a:p>
            <a:pPr>
              <a:defRPr sz="1000">
                <a:solidFill>
                  <a:srgbClr val="7F8C8D"/>
                </a:solidFill>
              </a:defRPr>
            </a:pPr>
            <a:r>
              <a:t>Impact: Profit margins +3-5%</a:t>
            </a:r>
          </a:p>
        </p:txBody>
      </p:sp>
      <p:pic>
        <p:nvPicPr>
          <p:cNvPr id="12" name="Picture 11" descr="overdue_invo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0"/>
            <a:ext cx="59436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90-Day Action Plan</a:t>
            </a:r>
          </a:p>
          <a:p>
            <a:pPr>
              <a:defRPr sz="1200">
                <a:solidFill>
                  <a:srgbClr val="D0C0E0"/>
                </a:solidFill>
              </a:defRPr>
            </a:pPr>
            <a:r>
              <a:t>Structured roadmap: Quick wins → Process improvements → Strategic initiatives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56616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Days 1-30: Quick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Deploy Streamlit dashboard for real-time KPI visibility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Send collection reminders for 11 overdue invoices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Redistribute workload: move tasks from Vikram to Isha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Review 8 delayed projects — fast-track or re-scope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KPI target: Collection →70% | Delayed →4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5661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Days 31-60: Process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Implement milestone tracking for all in-progress projects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Standardize project estimation framework using historical data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Set up automated invoice reminders (7/3/1 day workflow)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Launch monthly team capacity planning reviews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KPI target: On-time delivery →50% | Util balance →75-95%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566160" cy="3657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Days 61-90: Strategic Initiatives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6916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Launch client re-engagement campaign for 12 stalled projects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Establish quarterly business reviews for top 15 clients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Implement change request process for scope/budget changes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Build revenue forecasting model using historical trends</a:t>
            </a:r>
          </a:p>
          <a:p>
            <a:pPr>
              <a:spcAft>
                <a:spcPts val="300"/>
              </a:spcAft>
              <a:defRPr sz="950">
                <a:solidFill>
                  <a:srgbClr val="2C2C2C"/>
                </a:solidFill>
              </a:defRPr>
            </a:pPr>
            <a:r>
              <a:t>•  KPI target: Collection →85% | On-time →70% | Churn →8%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2D8E"/>
                </a:solidFill>
              </a:defRPr>
            </a:pPr>
            <a:r>
              <a:t>Key Performance Targets — 90-Day Trajectory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27432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572000"/>
          <a:ext cx="9418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828800"/>
                <a:gridCol w="18288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Collection Rate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5B2D8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On-Time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Team Utilization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68-100%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75-95%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78-92%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80-90%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Delayed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Budget Overruns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4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Task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2C2C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D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From Data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A0D8"/>
                </a:solidFill>
              </a:defRPr>
            </a:pPr>
            <a:r>
              <a:t>The Journey Ahead for YoungXCode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377440"/>
            <a:ext cx="27432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 Analytics is not just reporting the past; it is enabling YoungXCode to make smarter decisions,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 improve operational efficiency, increase profitability, and scale sustainably.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 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 The data has spoken. The path forward is clear. Now it is time to execute.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A623"/>
                </a:solidFill>
              </a:defRPr>
            </a:pPr>
            <a:r>
              <a:t>Immediate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D0C0E0"/>
                </a:solidFill>
              </a:defRPr>
            </a:pPr>
            <a:r>
              <a:t>•  Review and approve the 90-day action plan in this week's leadership meeting</a:t>
            </a:r>
          </a:p>
          <a:p>
            <a:pPr>
              <a:spcAft>
                <a:spcPts val="300"/>
              </a:spcAft>
              <a:defRPr sz="1100">
                <a:solidFill>
                  <a:srgbClr val="D0C0E0"/>
                </a:solidFill>
              </a:defRPr>
            </a:pPr>
            <a:r>
              <a:t>•  Assign owners for each phase — Finance (collections), PMO (delivery), Ops (productivity)</a:t>
            </a:r>
          </a:p>
          <a:p>
            <a:pPr>
              <a:spcAft>
                <a:spcPts val="300"/>
              </a:spcAft>
              <a:defRPr sz="1100">
                <a:solidFill>
                  <a:srgbClr val="D0C0E0"/>
                </a:solidFill>
              </a:defRPr>
            </a:pPr>
            <a:r>
              <a:t>•  Deploy Streamlit dashboard by Day 7 for management self-service analytics</a:t>
            </a:r>
          </a:p>
          <a:p>
            <a:pPr>
              <a:spcAft>
                <a:spcPts val="300"/>
              </a:spcAft>
              <a:defRPr sz="1100">
                <a:solidFill>
                  <a:srgbClr val="D0C0E0"/>
                </a:solidFill>
              </a:defRPr>
            </a:pPr>
            <a:r>
              <a:t>•  Begin collection drive for overdue invoices immediately — target Rs1.5M recovery in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Thank You | 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